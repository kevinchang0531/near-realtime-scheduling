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91440" cy="2560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遙測衛星近即時排程系統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深度研究報告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50 篇學術文獻與產業報告的全面分析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2026-05-28　　Near Real-Time Satellite Scheduling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研究範圍：六大主題概覽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640080" cy="109728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960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現有衛星任務規劃排程系統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640080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960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近即時取像與下鏈排程重點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40280"/>
            <a:ext cx="64008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402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Pleiades Neo 排程系統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40280"/>
            <a:ext cx="640080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402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240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開發排程系統須知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20440"/>
            <a:ext cx="640080" cy="10972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204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" y="3520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系統規劃與設計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3520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20440"/>
            <a:ext cx="640080" cy="10972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5204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40680" y="3520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輸入與輸出介面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主題一：現有遙測衛星任務規劃排程系統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192024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標準與規範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88620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CCSDS 529.0-G-1：國際排程標準術語定義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定義任務規劃、排程、執行三層架構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適用於所有 ESA/NASA 任務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54864" cy="1920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商業系統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170432"/>
            <a:ext cx="388620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Auria：商業衛星排程平台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OneAtlas API：Pleiades/SPOT 任務規劃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Ground Station：雲端化地面段排程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學術前沿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88620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+ Monte Carlo Tree Search（2023）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敏捷衛星排程 20 年技術演進回顧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輔助任務排程（自然語言介面）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54864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小型衛星星座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182112"/>
            <a:ext cx="388620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層次化規劃系統：地面+星上協同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星座多星聯合觀測排程最佳化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聯邦學習 FedSpace 星上模型更新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主題一：敏捷衛星排程 20 年技術演進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841248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560320"/>
            <a:ext cx="274320" cy="274320"/>
          </a:xfrm>
          <a:prstGeom prst="oval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331720"/>
            <a:ext cx="228600" cy="22860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7C"/>
                </a:solidFill>
              </a:rPr>
              <a:t>2000s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371600" cy="11887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整數規劃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MILP 精確解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2560320"/>
            <a:ext cx="274320" cy="274320"/>
          </a:xfrm>
          <a:prstGeom prst="oval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7752" y="2331720"/>
            <a:ext cx="228600" cy="228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2010s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3429000"/>
            <a:ext cx="1371600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4884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啟發式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3886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遺傳/模擬退火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560320"/>
            <a:ext cx="274320" cy="27432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9392" y="2331720"/>
            <a:ext cx="2286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2015+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3429000"/>
            <a:ext cx="137160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多目標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886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Pareto 前沿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560320"/>
            <a:ext cx="274320" cy="274320"/>
          </a:xfrm>
          <a:prstGeom prst="oval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2331720"/>
            <a:ext cx="228600" cy="2286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2020+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32120" y="3429000"/>
            <a:ext cx="1371600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3212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深度強化學習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3886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DRL + GNN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35240" y="2560320"/>
            <a:ext cx="274320" cy="27432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62672" y="2331720"/>
            <a:ext cx="2286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2025+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23760" y="3429000"/>
            <a:ext cx="137160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2376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量子退火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3886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量子加速優化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關鍵趨勢：從精確求解 → 快速近似 → 自適應學習，計算速度大幅提升以支援近即時需求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主題二：近即時取像與下鏈排程聚焦重點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" y="822960"/>
            <a:ext cx="1307592" cy="100584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" y="868680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任務請求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" y="13716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API / Web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99032" y="1188720"/>
            <a:ext cx="18288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912" y="822960"/>
            <a:ext cx="1307592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81912" y="868680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排程規劃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81912" y="13716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滾動視界優化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9504" y="1188720"/>
            <a:ext cx="18288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2384" y="822960"/>
            <a:ext cx="130759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72384" y="868680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衛星拍攝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72384" y="13716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取像窗口排程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9976" y="1188720"/>
            <a:ext cx="18288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822960"/>
            <a:ext cx="1307592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62856" y="868680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星上處理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62856" y="13716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壓縮 / 目標偵測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70448" y="1188720"/>
            <a:ext cx="18288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822960"/>
            <a:ext cx="1307592" cy="1005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53328" y="868680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資料下鏈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53328" y="13716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地面站排班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1188720"/>
            <a:ext cx="18288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822960"/>
            <a:ext cx="1307592" cy="100584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43800" y="868680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用戶交付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43800" y="13716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產品警報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103120"/>
            <a:ext cx="1920240" cy="109728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2148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分鐘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74320" y="2761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光學產品延遲目標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2103120"/>
            <a:ext cx="1920240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23160" y="2148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分鐘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2423160" y="2761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產品延遲需求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2103120"/>
            <a:ext cx="192024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0" y="2148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572000" y="2761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星上處理資料縮減率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20840" y="2103120"/>
            <a:ext cx="1920240" cy="10972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20840" y="2148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分鐘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720840" y="2761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Pleiades Neo 規劃更新週期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338328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EarthSight：星地協同低延遲系統，大幅降低影像傳輸等待時間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下鏈排程：family attribute 兩階段微分進化演算法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野火偵測：敏捷衛星自動化排程管道（Automating Wildfire Detection Pipeline）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主題二：關鍵優化目標與設計挑戰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3931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優化目標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251460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最大化影像覆蓋率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最小化任務完成延遲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最大化資料下鏈吞吐量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能源消耗最優化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高優先度任務優先排程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避免排程衝突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8229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22960"/>
            <a:ext cx="54864" cy="3931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設計挑戰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170432"/>
            <a:ext cx="251460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有限可見窗口（衛星過頂時間短）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雲層遮蔽不確定性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多衛星多地面站協調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動態緊急任務插入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資源競爭（儲存/電力/頻寬）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滾動視界重排計算時限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822960"/>
            <a:ext cx="2514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822960"/>
            <a:ext cx="54864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896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近即時關鍵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170432"/>
            <a:ext cx="228600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排程決策 &lt; 秒級完成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跳過錯過時槽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instances = 1 防重疊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星上預處理減少下鏈量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SATCOM 替代地面站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主題三：Pleiades Neo 排程系統架構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1168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05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用戶請求層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OneAtlas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2011680" cy="8229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任務規劃引擎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 分鐘更新週期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201168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量子退火優化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CNES 研究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554480"/>
            <a:ext cx="20116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Pleiades Neo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衛星星座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743200"/>
            <a:ext cx="201168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Skynopy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地面站網絡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005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指令上鏈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(Uplink)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103120"/>
            <a:ext cx="2011680" cy="82296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影像下鏈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(Downlink)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3200400"/>
            <a:ext cx="201168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3200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產品交付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(&lt; 1h SLA)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1417320"/>
            <a:ext cx="91440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2514600"/>
            <a:ext cx="914400" cy="-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1965960"/>
            <a:ext cx="731520" cy="-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1965960"/>
            <a:ext cx="731520" cy="5486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3154680"/>
            <a:ext cx="73152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核心特色：每 25 分鐘重新規劃一次排程，透過 Skynopy 分散式地面站縮短等待下鏈時間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主題三：Pleiades Neo 技術規格與 API 介面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92024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86868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4538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地面解析度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20240" cy="10515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86868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分鐘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4538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排程計畫更新週期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1920240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86868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顆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14538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衛星星座組成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822960"/>
            <a:ext cx="19202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86868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量子退火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14538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任務優化演算法（研究）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057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OneAtlas API 介面規格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68880"/>
          <a:ext cx="859536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介面類型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/tasking/order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提交取像任務請求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/order/{id}/status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查詢訂單狀態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任務完成推送通知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/product/download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影像產品下載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274320" y="44805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地面段強化：Skynopy 提供全球分散式地面站服務，降低資料下鏈等待時間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量子退火研究（CNES/EQUALITY）：針對大量取像衛星任務序列的二元變量優化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主題四：開發近即時衛星排程系統必知（架構篇）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集中式架構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單一排程決策點，全局最優解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維護簡單，適合小型星座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單點故障風險高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計算瓶頸（大星座時）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適用：&lt; 10 顆衛星，&lt; 10 並發任務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代表：NASA GSFC、CCSDS 標準架構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分散式架構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258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多個排程代理協同運作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高可用性、容錯能力強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適合大型星座（50+ 顆）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協調複雜度高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適用：大規模 LEO 星座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代表：DynaQUEST、YUHENG-OS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主題四：開發必知——低延遲架構設計原則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502920" cy="192024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960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星上預處理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將影像壓縮/目標偵測移至衛星端，減少下鏈資料量 99%+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68680"/>
            <a:ext cx="502920" cy="1920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960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SATCOM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14173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消除「等待抵達地面站」的延遲，全球覆蓋即時傳輸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971800"/>
            <a:ext cx="502920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971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滾動視界規劃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5204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固定週期（如 25 分/15 分）重新計算排程，動態響應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502920" cy="1920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71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任務優先度模型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5204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緊急任務（災害/緊急應變）插隊機制與 Priority Queue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50749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5074920"/>
            <a:ext cx="502920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5074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9476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雲端虛擬化地面段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94760" y="56235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 雲端化，消除固定地面站地理限制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50749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5074920"/>
            <a:ext cx="502920" cy="192024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5074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5166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容錯與 Coalesce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0840" y="56235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錯過時槽跳過不補跑，避免任務堆積造成雪崩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主題五：近即時排程系統——三層架構設計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68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任務請求層 (Request Layer)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868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REST API / Webhook 端點　　用戶任務佇列管理　　優先度評估與分類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09728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03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排程引擎層 (Scheduling Engine)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滾動視界排程器　　衝突偵測與解決　　多目標優化（延遲/覆蓋/能源）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8595360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執行層 (Execution Layer)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337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指令生成與上鏈　　衛星狀態監控　　執行結果回饋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本專案實作：APScheduler（排程引擎）+ FastAPI（請求層 API）+ SQLite（狀態持久化）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主題五：排程演算法對比分析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737360"/>
                <a:gridCol w="173736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演算法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求解品質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計算速度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適用規模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近即時適用性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整數規劃 (MILP)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最優解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 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小規模 (&lt; 20 任務)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不適用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啟發式演算法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近似解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中規模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適用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遺傳演算法 (GA)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良好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 中等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中大規模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條件適用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深度強化學習 (DRL)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自適應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 推理快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中大規模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適用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圖神經網路 (GNN)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優秀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極快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大規模星座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強力推薦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量子退火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接近最優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 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大規模 NP 難題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研究階段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主題五：DynaQUEST 動態多衛星排程方法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3931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DynaQUEST 核心特點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388620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動態任務插入：即時響應新任務請求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多衛星協調：跨衛星任務分配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滾動視界：持續更新排程計畫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衝突解決：自動處理資源競爭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已驗證：優於靜態啟發式方法 15-30%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54864" cy="3931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近即時設計要點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170432"/>
            <a:ext cx="388620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任務優先度模型：緊急 &gt; 高 &gt; 普通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= True：跳過錯過的排程槽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Instances = 1：防止同一任務重疊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Job Store：持久化跨重啟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ThreadPoolExecutor：長任務背景執行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Window：每 N 分鐘重新計算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主題六：排程系統輸入介面規格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輸入介面類型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20040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介面名稱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協定/格式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資料內容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來源標準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任務請求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目標位置、取像時間、優先度、解析度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SNUGS / OneAtlas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事件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POST /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事件觸發（火災警報、緊急任務）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排程設定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表達式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定期執行任務（如每 6 小時普查）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 cron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地面站排班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/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可用時段、仰角限制、頻率配置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CCSDS 標準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衛星星曆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TLE / CCSDS OCM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軌道根數、過頂時間預測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用戶偏好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AOI 區域、品質要求、SLA 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6817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SCOS 2000：CORBA 外部介面，支援快速部署進階操作功能（ICD 演進為 JSON 格式）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SNUGS 倡議：推廣 RESTful + JSON 作為多任務地面站服務開放標準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主題六：排程系統輸出介面規格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輸出介面類型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20040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介面名稱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協定/格式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資料內容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來源標準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指令序列 (TCL)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CCSDS / SANA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取像指令、姿態控制、拍攝參數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CCSDS TC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排程計畫檔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/ 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任務 ID、執行時間、資源分配矩陣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下鏈排程表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地面站聯繫窗口、資料傳輸優先序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任務狀態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WebSocket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即時任務狀態、進度回饋、完成通知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產品警報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Push / 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偵測結果（目標座標、影像縮圖）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EO-ALERT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監控儀表板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/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排程器健康、佇列深度、延遲指標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6817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Ground Station Python SDK：排程衛星接觸（Contact）、設定下行接收配置的標準實作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網絡化方案：HTTP REST API 控制地面站設備，支援多任務共用地面站資源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EO-ALERT 案例研究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</a:rPr>
              <a:t>歐盟 Horizon 2020 資助 | 星上處理極低延遲地球觀測架構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分鐘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7739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光學影像產品延遲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10515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8872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分鐘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7739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產品延遲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9202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8872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7739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200MB 處理後產品大小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143000"/>
            <a:ext cx="1920240" cy="10515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188720"/>
            <a:ext cx="1920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17739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原始資料縮減率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77440"/>
          <a:ext cx="859536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4747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傳統架構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EO-ALERT 架構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處理位置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地面段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衛星機載端（On-board）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傳輸內容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原始大體積數據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處理後小體積產品（&lt; 1% 原始）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目標延遲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分鐘〜數小時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分鐘（目標）/ &lt; 5 分鐘（需求）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通訊方式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固定地面站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 LEO SATCOM 網絡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終端交付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需經地面中心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可直接廣播至終端用戶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本專案技術方案選型：APScheduler + FastAPI + SQLite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146304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請求層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914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端點接受 cron/interval/手動觸發請求，WebSocket 狀態回報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65960"/>
            <a:ext cx="1463040" cy="91440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APScheduler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排程引擎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19659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BackgroundScheduler + SQLAlchemy Job Store，支援三種觸發器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146304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3520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持久化儲存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0175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跨重啟任務持久化，coalesce=True，max_instances=1 防重疊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6908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69080"/>
            <a:ext cx="14630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ThreadPool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執行層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40690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 10 個 Worker 並行執行長時間任務（&gt; 1 分鐘）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5120640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設計原則：coalesce=True（不補跑錯過的排程）、max_instances=1（防止任務重疊執行）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開發路徑圖：三階段實施計畫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651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265176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核心排程引擎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2651760" cy="347472"/>
          </a:xfrm>
          <a:prstGeom prst="rect">
            <a:avLst/>
          </a:prstGeom>
          <a:solidFill>
            <a:srgbClr val="1A3A7C">
              <a:alpha val="25000"/>
            </a:srgbClr>
          </a:solidFill>
          <a:ln w="12700">
            <a:solidFill>
              <a:srgbClr val="1A3A7C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7C"/>
                </a:solidFill>
              </a:rPr>
              <a:t>第 1-2 個月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2468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框架建立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基本端點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持久化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 Cron/Interval 觸發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單元測試套件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651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地面站介面整合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2651760" cy="347472"/>
          </a:xfrm>
          <a:prstGeom prst="rect">
            <a:avLst/>
          </a:prstGeom>
          <a:solidFill>
            <a:srgbClr val="0E7490">
              <a:alpha val="25000"/>
            </a:srgbClr>
          </a:solidFill>
          <a:ln w="12700">
            <a:solidFill>
              <a:srgbClr val="0E7490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第 3-4 個月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691640"/>
            <a:ext cx="2468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地面站 API 介接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衛星星曆（TLE）整合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指令上鏈介面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影像下鏈排程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事件驅動觸發器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651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77724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777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近即時優化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51760" cy="34747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第 5-6 個月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691640"/>
            <a:ext cx="2468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滾動視界排程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多目標優化演算法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動態任務插入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監控與儀表板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效能壓力測試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結論與關鍵洞見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70432"/>
          </a:xfrm>
          <a:prstGeom prst="rect">
            <a:avLst/>
          </a:prstGeom>
          <a:solidFill>
            <a:srgbClr val="1A3A7C">
              <a:alpha val="4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1704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現有系統雖多，但多為集中式、批次規劃，近即時能力仍是差距所在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170432"/>
          </a:xfrm>
          <a:prstGeom prst="rect">
            <a:avLst/>
          </a:prstGeom>
          <a:solidFill>
            <a:srgbClr val="1A3A7C">
              <a:alpha val="40000"/>
            </a:srgbClr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502920" cy="1170432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960120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近即時核心在於「縮短排程決策週期 + 減少下鏈等待時間」，雙管齊下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60520" cy="1170432"/>
          </a:xfrm>
          <a:prstGeom prst="rect">
            <a:avLst/>
          </a:prstGeom>
          <a:solidFill>
            <a:srgbClr val="1A3A7C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86000"/>
            <a:ext cx="5029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8600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286000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Pleiades Neo 25 分鐘更新週期是業界基準，量子退火是下一代方向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60520" cy="1170432"/>
          </a:xfrm>
          <a:prstGeom prst="rect">
            <a:avLst/>
          </a:prstGeom>
          <a:solidFill>
            <a:srgbClr val="1A3A7C">
              <a:alpha val="40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286000"/>
            <a:ext cx="502920" cy="11704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28600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286000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開發前必須掌握：軌道力學、CCSDS 協定、地面站介接、多目標優化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60520" cy="1170432"/>
          </a:xfrm>
          <a:prstGeom prst="rect">
            <a:avLst/>
          </a:prstGeom>
          <a:solidFill>
            <a:srgbClr val="1A3A7C">
              <a:alpha val="4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502920" cy="1170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1188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611880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+ FastAPI 是輕量起步的最佳選擇，未來可平滑升級至 Celery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60520" cy="1170432"/>
          </a:xfrm>
          <a:prstGeom prst="rect">
            <a:avLst/>
          </a:prstGeom>
          <a:solidFill>
            <a:srgbClr val="1A3A7C">
              <a:alpha val="40000"/>
            </a:srgbClr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611880"/>
            <a:ext cx="502920" cy="1170432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61188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611880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介面設計以 RESTful JSON 為主，預留 SNUGS 標準相容性是關鍵決策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主要參考文獻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68680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2003.06169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430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Earth observation satellite scheduling over 20 years (2020)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81912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627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2207.01412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185623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data downlink scheduling with family attribute (2022)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95144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95144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408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2605.01243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5694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Satellite Network for Instantaneous Detection (2026)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08376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08376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54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28269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EarthSight: Efficient Scheduling for Scalable Low-Latency Satellite Intelligence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21608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21608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767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CCSDS 529.0-G-1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399592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 and Scheduling — Consultative Committee for Space Data Systems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434840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80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DSpace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" y="470916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scheduling for earth-observing small satellite constellations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86868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868680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914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Earth Online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73752" y="11430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Pléiades Neo Overview — 25-min scheduling cycle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581912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1581912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1627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comet-cnes.fr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73752" y="185623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EOS Scheduling with a Quantum Annealer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295144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2295144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23408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UNOOSA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73752" y="25694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Satellite Architectures for Very Low Latency EO Data Products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008376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008376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054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AIAA 2018-2446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73752" y="328269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Interface Specification for Spacecraft Command and Control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3721608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3721608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3767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Blog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73752" y="399592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satellite contact using AWS Ground Station Python SDK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443484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4434840"/>
            <a:ext cx="73152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73752" y="4480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73752" y="470916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Task Priority Model for Satellite Scheduling (Rolling Horizon)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遙測衛星近即時排程系統深度研究</dc:title>
  <dc:subject>PptxGenJS Presentation</dc:subject>
  <dc:creator>PptxGenJS</dc:creator>
  <cp:lastModifiedBy>PptxGenJS</cp:lastModifiedBy>
  <cp:revision>1</cp:revision>
  <dcterms:created xsi:type="dcterms:W3CDTF">2026-05-27T21:55:36Z</dcterms:created>
  <dcterms:modified xsi:type="dcterms:W3CDTF">2026-05-27T21:55:36Z</dcterms:modified>
</cp:coreProperties>
</file>